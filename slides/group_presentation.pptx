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6b867a376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a6b867a376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a6b867a376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6b867a376_2_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a6b867a376_2_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a6b867a376_2_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6b867a376_2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a6b867a376_2_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a6b867a376_2_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75535d887_2_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a75535d887_2_6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a75535d887_2_6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b867a376_2_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6b867a376_2_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6b867a376_2_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b867a376_2_1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6b867a376_2_1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a6b867a376_2_1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6b867a376_2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a6b867a376_2_1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6b867a376_2_1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b867a376_2_1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a6b867a376_2_1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GridSearchCV with 3-fold cross-validation to find the best settings for each model.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Logistic Regression, we tested different regularization strengths (C) and solvers - the best was C=10 with lbfgs.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Linear SVM, we tried different C values and loss functions - C=1.0 with squared_hinge worked best.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Naive Bayes, we tested smoothing parameters - alpha=0.5 was optimal.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systematic search helps us find the sweet spot for each algorithm.</a:t>
            </a:r>
            <a:endParaRPr/>
          </a:p>
        </p:txBody>
      </p:sp>
      <p:sp>
        <p:nvSpPr>
          <p:cNvPr id="202" name="Google Shape;202;g3a6b867a376_2_1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6b867a376_2_1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a6b867a376_2_1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chart shows what happened after tuning.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actually improved - F1 went from 0.931 to 0.936.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interestingly, Linear SVM and Multinomial NB got slightly worse after tuning. This teaches us an important lesson: tuning doesn't always help, and sometimes default parameters are already well-optimized.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trade-off between precision and recall shifted differently for each model.</a:t>
            </a:r>
            <a:endParaRPr/>
          </a:p>
        </p:txBody>
      </p:sp>
      <p:sp>
        <p:nvSpPr>
          <p:cNvPr id="236" name="Google Shape;236;g3a6b867a376_2_1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6b867a376_2_2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a6b867a376_2_2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we see the actual prediction counts before and after tuning.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Logistic Regression, we correctly identified more real news (3249→3282 true positives) and reduced false negatives (197→193).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stayed stable with just a slight increase in false positives.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Multinomial NB got more false positives after tuning (261→264).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matrices help us understand exactly where each model makes mistakes.</a:t>
            </a:r>
            <a:endParaRPr/>
          </a:p>
        </p:txBody>
      </p:sp>
      <p:sp>
        <p:nvSpPr>
          <p:cNvPr id="258" name="Google Shape;258;g3a6b867a376_2_2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6b867a376_2_2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a6b867a376_2_2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our final leaderboard ranked by F1-score.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winner is Linear SVM with default parameters at 93.89%.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place goes to Tuned Logistic Regression at 93.62%, and third is Tuned Linear SVM at 93.58%.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that the default SVM actually beat its tuned version - proving that more tuning isn't always better.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came last at 91.15%, showing it's not ideal for this high-dimensional text data.</a:t>
            </a:r>
            <a:endParaRPr/>
          </a:p>
        </p:txBody>
      </p:sp>
      <p:sp>
        <p:nvSpPr>
          <p:cNvPr id="279" name="Google Shape;279;g3a6b867a376_2_2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6b867a376_2_2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a6b867a376_2_2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our best model (Linear SVM), we classified 6,831 test articles.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results show 3.3k predicted as real news and 3.1k as fake news - roughly a 47/53 split.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model was retrained on all 27,321 training samples before making these final predictions.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model achieved 94% accuracy and 93.89% F1-score, with balanced precision (93.43%) and recall (94.36%).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means we're catching most fake news while keeping false alarms low.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a6b867a376_2_2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6b867a376_2_3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a6b867a376_2_3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a6b867a376_2_3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6b867a376_2_3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a6b867a376_2_3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a6b867a376_2_3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6b867a376_4_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a6b867a376_4_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a6b867a376_4_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6b867a376_2_4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a6b867a376_2_4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a6b867a376_2_4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6b867a376_4_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a6b867a376_4_3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a6b867a376_4_3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4794e43e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913950" y="984414"/>
            <a:ext cx="73161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FAKE NEWS CLASSIFICATION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2631938" y="2214563"/>
            <a:ext cx="387997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MACHINE LEARNING PROJECT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000500" y="2900363"/>
            <a:ext cx="1143000" cy="28575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2640894" y="3348038"/>
            <a:ext cx="38620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Binary Classification using NLP &amp; Traditional ML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200025" y="4724400"/>
            <a:ext cx="87439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Text Classification • TF-IDF • Model Comparison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3875" y="3609900"/>
            <a:ext cx="1847850" cy="12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5851300" y="1743149"/>
            <a:ext cx="2705100" cy="1657200"/>
          </a:xfrm>
          <a:prstGeom prst="roundRect">
            <a:avLst>
              <a:gd fmla="val 4599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c1a5061e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381000" y="285750"/>
            <a:ext cx="44788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1076525" y="1128700"/>
            <a:ext cx="2705100" cy="1276200"/>
          </a:xfrm>
          <a:prstGeom prst="roundRect">
            <a:avLst>
              <a:gd fmla="val 5971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1267025" y="1374415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1438475" y="1319200"/>
            <a:ext cx="7710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267025" y="1620130"/>
            <a:ext cx="237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" sz="975">
                <a:solidFill>
                  <a:srgbClr val="F0F4F8"/>
                </a:solidFill>
              </a:rPr>
              <a:t>Design a model to indicate fake news headlines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041800" y="1988864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4ECD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213250" y="1933649"/>
            <a:ext cx="6222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037725" y="2234579"/>
            <a:ext cx="9030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Training Samples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957962" y="2234579"/>
            <a:ext cx="4161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" sz="1050">
                <a:solidFill>
                  <a:srgbClr val="FF6B6B"/>
                </a:solidFill>
              </a:rPr>
              <a:t>4.2K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6037725" y="2760240"/>
            <a:ext cx="1062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Real News (Class 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7957962" y="2760240"/>
            <a:ext cx="4161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F0F4F8"/>
                </a:solidFill>
              </a:rPr>
              <a:t>16K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037725" y="3023071"/>
            <a:ext cx="10818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Fake News (Class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957962" y="3023071"/>
            <a:ext cx="4161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en" sz="1050">
                <a:solidFill>
                  <a:srgbClr val="F0F4F8"/>
                </a:solidFill>
              </a:rPr>
              <a:t>.2K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076525" y="2738575"/>
            <a:ext cx="2705100" cy="1276200"/>
          </a:xfrm>
          <a:prstGeom prst="roundRect">
            <a:avLst>
              <a:gd fmla="val 5971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267025" y="2984290"/>
            <a:ext cx="76200" cy="76200"/>
          </a:xfrm>
          <a:prstGeom prst="roundRect">
            <a:avLst>
              <a:gd fmla="val 12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438475" y="2929075"/>
            <a:ext cx="3930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267025" y="3230005"/>
            <a:ext cx="237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Achieve high F1-score and select the best performing model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81000" y="4781550"/>
            <a:ext cx="211843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Binary Classification Problem • Balanced Dataset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037725" y="2421204"/>
            <a:ext cx="9030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" sz="900">
                <a:solidFill>
                  <a:srgbClr val="94A3B8"/>
                </a:solidFill>
              </a:rPr>
              <a:t>Duplicates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953887" y="2421204"/>
            <a:ext cx="4161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Arial"/>
              <a:buNone/>
            </a:pPr>
            <a:r>
              <a:rPr b="1" lang="en" sz="1050">
                <a:solidFill>
                  <a:srgbClr val="FF6B6B"/>
                </a:solidFill>
              </a:rPr>
              <a:t>1</a:t>
            </a:r>
            <a:r>
              <a:rPr b="1" lang="en" sz="1050">
                <a:solidFill>
                  <a:srgbClr val="FF6B6B"/>
                </a:solidFill>
              </a:rPr>
              <a:t>.9K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41807f1f.png"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381000" y="285750"/>
            <a:ext cx="44788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Data Preprocessing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81000" y="1365200"/>
            <a:ext cx="2755850" cy="879872"/>
          </a:xfrm>
          <a:prstGeom prst="roundRect">
            <a:avLst>
              <a:gd fmla="val 8660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17"/>
          <p:cNvCxnSpPr/>
          <p:nvPr/>
        </p:nvCxnSpPr>
        <p:spPr>
          <a:xfrm>
            <a:off x="400050" y="1365200"/>
            <a:ext cx="0" cy="879872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7"/>
          <p:cNvSpPr/>
          <p:nvPr/>
        </p:nvSpPr>
        <p:spPr>
          <a:xfrm>
            <a:off x="571500" y="1517600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71500" y="1721346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Lowercasing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571500" y="1946077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Convert all text to lowercase for uniformity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289250" y="1365200"/>
            <a:ext cx="2755850" cy="879872"/>
          </a:xfrm>
          <a:prstGeom prst="roundRect">
            <a:avLst>
              <a:gd fmla="val 8660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7"/>
          <p:cNvCxnSpPr/>
          <p:nvPr/>
        </p:nvCxnSpPr>
        <p:spPr>
          <a:xfrm>
            <a:off x="3308300" y="1365200"/>
            <a:ext cx="0" cy="879872"/>
          </a:xfrm>
          <a:prstGeom prst="straightConnector1">
            <a:avLst/>
          </a:prstGeom>
          <a:noFill/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7"/>
          <p:cNvSpPr/>
          <p:nvPr/>
        </p:nvSpPr>
        <p:spPr>
          <a:xfrm>
            <a:off x="3479750" y="1517600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3479750" y="1721346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URL Removal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479750" y="1946077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Remove URLs and web links from text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197501" y="1365200"/>
            <a:ext cx="2755850" cy="879872"/>
          </a:xfrm>
          <a:prstGeom prst="roundRect">
            <a:avLst>
              <a:gd fmla="val 8660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>
            <a:off x="6216551" y="1365200"/>
            <a:ext cx="0" cy="879872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7"/>
          <p:cNvSpPr/>
          <p:nvPr/>
        </p:nvSpPr>
        <p:spPr>
          <a:xfrm>
            <a:off x="6388001" y="1517600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388001" y="1721346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Special Chars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388001" y="1946077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Remove special characters and punctuation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81000" y="2397472"/>
            <a:ext cx="2755850" cy="879872"/>
          </a:xfrm>
          <a:prstGeom prst="roundRect">
            <a:avLst>
              <a:gd fmla="val 8660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7"/>
          <p:cNvCxnSpPr/>
          <p:nvPr/>
        </p:nvCxnSpPr>
        <p:spPr>
          <a:xfrm>
            <a:off x="400050" y="2397472"/>
            <a:ext cx="0" cy="879872"/>
          </a:xfrm>
          <a:prstGeom prst="straightConnector1">
            <a:avLst/>
          </a:prstGeom>
          <a:noFill/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7"/>
          <p:cNvSpPr/>
          <p:nvPr/>
        </p:nvSpPr>
        <p:spPr>
          <a:xfrm>
            <a:off x="571500" y="2549872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71500" y="2753618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Tokenization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71500" y="2978348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Split text into individual word tokens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289250" y="2397472"/>
            <a:ext cx="2755850" cy="879872"/>
          </a:xfrm>
          <a:prstGeom prst="roundRect">
            <a:avLst>
              <a:gd fmla="val 8660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3308300" y="2397472"/>
            <a:ext cx="0" cy="879872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7"/>
          <p:cNvSpPr/>
          <p:nvPr/>
        </p:nvSpPr>
        <p:spPr>
          <a:xfrm>
            <a:off x="3479750" y="2549872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479750" y="2753618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Stop Words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479750" y="2978348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Remove common words (the, is, at, etc.)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197501" y="2397472"/>
            <a:ext cx="2755850" cy="879872"/>
          </a:xfrm>
          <a:prstGeom prst="roundRect">
            <a:avLst>
              <a:gd fmla="val 8660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7"/>
          <p:cNvCxnSpPr/>
          <p:nvPr/>
        </p:nvCxnSpPr>
        <p:spPr>
          <a:xfrm>
            <a:off x="6216551" y="2397472"/>
            <a:ext cx="0" cy="879872"/>
          </a:xfrm>
          <a:prstGeom prst="straightConnector1">
            <a:avLst/>
          </a:prstGeom>
          <a:noFill/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7"/>
          <p:cNvSpPr/>
          <p:nvPr/>
        </p:nvSpPr>
        <p:spPr>
          <a:xfrm>
            <a:off x="6388001" y="2549872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STEP 6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388001" y="2753618"/>
            <a:ext cx="246120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388001" y="2978348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Vectorize using TF-IDF (1,2)-grams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81000" y="3505944"/>
            <a:ext cx="8572500" cy="919907"/>
          </a:xfrm>
          <a:prstGeom prst="roundRect">
            <a:avLst>
              <a:gd fmla="val 8283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33400" y="3658344"/>
            <a:ext cx="843305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VECTORIZATION PARAMETERS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33400" y="3894534"/>
            <a:ext cx="7008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N-gram Range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33400" y="4060180"/>
            <a:ext cx="70088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1449139" y="3894534"/>
            <a:ext cx="6533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Max Features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1449139" y="4060180"/>
            <a:ext cx="65336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15,000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318296" y="3894534"/>
            <a:ext cx="34444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Min DF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318296" y="4060180"/>
            <a:ext cx="344445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884587" y="3894534"/>
            <a:ext cx="37404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Max DF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2884587" y="4060180"/>
            <a:ext cx="37404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0.95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81000" y="4781550"/>
            <a:ext cx="253422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Text Cleaning • Feature Engineering • TF-IDF Vectorization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2e53162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381000" y="285750"/>
            <a:ext cx="447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Vectorizer Comparison</a:t>
            </a:r>
            <a:endParaRPr b="1" sz="2100">
              <a:solidFill>
                <a:srgbClr val="FF6B6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t/>
            </a:r>
            <a:endParaRPr b="1" sz="2400">
              <a:solidFill>
                <a:srgbClr val="FF6B6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81000" y="4781550"/>
            <a:ext cx="3081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Four different algorithms tested with default and tuned hyperparameters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198493"/>
            <a:ext cx="8762998" cy="240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2e53162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381000" y="285750"/>
            <a:ext cx="44788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Models Tested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81000" y="4781550"/>
            <a:ext cx="308193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Four different algorithms tested with default and tuned hyperparameters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381000" y="1239900"/>
            <a:ext cx="7733400" cy="2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●"/>
            </a:pPr>
            <a:r>
              <a:rPr lang="en">
                <a:solidFill>
                  <a:srgbClr val="94A3B8"/>
                </a:solidFill>
              </a:rPr>
              <a:t>Logistic regression</a:t>
            </a:r>
            <a:endParaRPr>
              <a:solidFill>
                <a:srgbClr val="94A3B8"/>
              </a:solidFill>
            </a:endParaRPr>
          </a:p>
          <a:p>
            <a:pPr indent="-317500" lvl="1" marL="9144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○"/>
            </a:pPr>
            <a:r>
              <a:rPr lang="en">
                <a:solidFill>
                  <a:srgbClr val="94A3B8"/>
                </a:solidFill>
              </a:rPr>
              <a:t>Fast training, interpretable coefficients, good baseline for text classification.</a:t>
            </a:r>
            <a:endParaRPr>
              <a:solidFill>
                <a:srgbClr val="94A3B8"/>
              </a:solidFill>
            </a:endParaRPr>
          </a:p>
          <a:p>
            <a:pPr indent="-317500" lvl="0" marL="4572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●"/>
            </a:pPr>
            <a:r>
              <a:rPr lang="en">
                <a:solidFill>
                  <a:srgbClr val="94A3B8"/>
                </a:solidFill>
              </a:rPr>
              <a:t>Random forest</a:t>
            </a:r>
            <a:endParaRPr>
              <a:solidFill>
                <a:srgbClr val="94A3B8"/>
              </a:solidFill>
            </a:endParaRPr>
          </a:p>
          <a:p>
            <a:pPr indent="-317500" lvl="1" marL="9144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○"/>
            </a:pPr>
            <a:r>
              <a:rPr lang="en">
                <a:solidFill>
                  <a:srgbClr val="94A3B8"/>
                </a:solidFill>
              </a:rPr>
              <a:t>Handles non-linear relationships, robust to overfitting, feature importance.</a:t>
            </a:r>
            <a:endParaRPr>
              <a:solidFill>
                <a:srgbClr val="94A3B8"/>
              </a:solidFill>
            </a:endParaRPr>
          </a:p>
          <a:p>
            <a:pPr indent="-317500" lvl="0" marL="4572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●"/>
            </a:pPr>
            <a:r>
              <a:rPr lang="en">
                <a:solidFill>
                  <a:srgbClr val="94A3B8"/>
                </a:solidFill>
              </a:rPr>
              <a:t>Linear Support vector machine</a:t>
            </a:r>
            <a:endParaRPr>
              <a:solidFill>
                <a:srgbClr val="94A3B8"/>
              </a:solidFill>
            </a:endParaRPr>
          </a:p>
          <a:p>
            <a:pPr indent="-317500" lvl="1" marL="9144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○"/>
            </a:pPr>
            <a:r>
              <a:rPr lang="en">
                <a:solidFill>
                  <a:srgbClr val="94A3B8"/>
                </a:solidFill>
              </a:rPr>
              <a:t>Excellent for high-dimensional data, maximum margin classifier.</a:t>
            </a:r>
            <a:endParaRPr>
              <a:solidFill>
                <a:srgbClr val="94A3B8"/>
              </a:solidFill>
            </a:endParaRPr>
          </a:p>
          <a:p>
            <a:pPr indent="-317500" lvl="0" marL="4572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●"/>
            </a:pPr>
            <a:r>
              <a:rPr lang="en">
                <a:solidFill>
                  <a:srgbClr val="94A3B8"/>
                </a:solidFill>
              </a:rPr>
              <a:t>Multinomial Naive Bayes</a:t>
            </a:r>
            <a:endParaRPr>
              <a:solidFill>
                <a:srgbClr val="94A3B8"/>
              </a:solidFill>
            </a:endParaRPr>
          </a:p>
          <a:p>
            <a:pPr indent="-317500" lvl="1" marL="91440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Char char="○"/>
            </a:pPr>
            <a:r>
              <a:rPr lang="en">
                <a:solidFill>
                  <a:srgbClr val="94A3B8"/>
                </a:solidFill>
              </a:rPr>
              <a:t>Fast, works well with word counts, good for text with many features.</a:t>
            </a:r>
            <a:endParaRPr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3e90c29a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/>
          <p:nvPr/>
        </p:nvSpPr>
        <p:spPr>
          <a:xfrm>
            <a:off x="381000" y="238125"/>
            <a:ext cx="4478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Baseline Model 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903934" y="2654647"/>
            <a:ext cx="3326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286500" y="1833375"/>
            <a:ext cx="2642700" cy="1556400"/>
          </a:xfrm>
          <a:prstGeom prst="roundRect">
            <a:avLst>
              <a:gd fmla="val 4896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6419850" y="1966715"/>
            <a:ext cx="26426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419850" y="2256186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515100" y="2208561"/>
            <a:ext cx="146354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Linear SVM leads with 93.89% F1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419850" y="2484786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515100" y="2437161"/>
            <a:ext cx="143652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Random Forest lowest at 91.15%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419850" y="2713386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515100" y="2665761"/>
            <a:ext cx="144730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MNB has best precision (94.09%)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419850" y="2941986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515100" y="2894361"/>
            <a:ext cx="14148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SVM has highest recall (94.36%)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6419850" y="3170586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515100" y="3122961"/>
            <a:ext cx="137717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All models above 91% accuracy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project/model_comparison_before_tuning.png"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725837"/>
            <a:ext cx="5708175" cy="404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3a02a7a3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/>
          <p:nvPr/>
        </p:nvSpPr>
        <p:spPr>
          <a:xfrm>
            <a:off x="381000" y="238125"/>
            <a:ext cx="56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Confusion Matrices - Before Tuning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815084" y="2654647"/>
            <a:ext cx="51401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Matrices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905500" y="1969828"/>
            <a:ext cx="2857500" cy="1556400"/>
          </a:xfrm>
          <a:prstGeom prst="roundRect">
            <a:avLst>
              <a:gd fmla="val 4896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038850" y="2103178"/>
            <a:ext cx="26427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6038850" y="2392649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134100" y="2345024"/>
            <a:ext cx="16203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SVM: 3295 TP, 187 FP - best balance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6038850" y="2621249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6134100" y="2573624"/>
            <a:ext cx="1571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MNB: Fewest FN (192) on real news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6038850" y="2849849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134100" y="2802224"/>
            <a:ext cx="1657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RF: Most FN (282) - misses fake news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038850" y="3078449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134100" y="3030824"/>
            <a:ext cx="1496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LR: Good balance, 197 FP/266 FN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038850" y="3307049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134100" y="3259424"/>
            <a:ext cx="1074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Total test: 6,831 samples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project/confusion_matrices_before_tuning.png" id="198" name="Google Shape;1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688" y="924565"/>
            <a:ext cx="4310324" cy="3646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c0d53e28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381000" y="285750"/>
            <a:ext cx="44788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Hyperparameter Tuning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81000" y="838200"/>
            <a:ext cx="8572500" cy="657076"/>
          </a:xfrm>
          <a:prstGeom prst="roundRect">
            <a:avLst>
              <a:gd fmla="val 11597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33400" y="971550"/>
            <a:ext cx="843305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TUNING METHOD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33400" y="1188690"/>
            <a:ext cx="84330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GridSearchCV with </a:t>
            </a:r>
            <a:r>
              <a:rPr lang="en" sz="975">
                <a:solidFill>
                  <a:srgbClr val="F0F4F8"/>
                </a:solidFill>
              </a:rPr>
              <a:t>3</a:t>
            </a:r>
            <a:r>
              <a:rPr b="0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-fold cross-validation, optimizing for F1-Score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81000" y="2530822"/>
            <a:ext cx="2755850" cy="1539032"/>
          </a:xfrm>
          <a:prstGeom prst="roundRect">
            <a:avLst>
              <a:gd fmla="val 4951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33400" y="2683222"/>
            <a:ext cx="250007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33400" y="2919413"/>
            <a:ext cx="25000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 (Regularization)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33400" y="3071813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[0.1, 1.0, 10.0]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33400" y="3275558"/>
            <a:ext cx="25000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Solver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33400" y="3427958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['lbfgs', 'liblinear']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33400" y="3669804"/>
            <a:ext cx="2451050" cy="247650"/>
          </a:xfrm>
          <a:prstGeom prst="roundRect">
            <a:avLst>
              <a:gd fmla="val 1538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09600" y="3726954"/>
            <a:ext cx="234462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Best: C=10.0, lbfgs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289250" y="2530822"/>
            <a:ext cx="2755850" cy="1539032"/>
          </a:xfrm>
          <a:prstGeom prst="roundRect">
            <a:avLst>
              <a:gd fmla="val 4951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441650" y="2683222"/>
            <a:ext cx="250007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LINEAR SVM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441650" y="2919413"/>
            <a:ext cx="25000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 (Regularization)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3441650" y="3071813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[0.1, </a:t>
            </a:r>
            <a:r>
              <a:rPr lang="en" sz="825">
                <a:solidFill>
                  <a:srgbClr val="F0F4F8"/>
                </a:solidFill>
              </a:rPr>
              <a:t>1.0</a:t>
            </a: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, 10.0]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441650" y="3275558"/>
            <a:ext cx="25000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Loss Function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441650" y="3427958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['hinge', 'squared_hinge']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441650" y="3669804"/>
            <a:ext cx="2451050" cy="247650"/>
          </a:xfrm>
          <a:prstGeom prst="roundRect">
            <a:avLst>
              <a:gd fmla="val 1538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517850" y="3726954"/>
            <a:ext cx="234462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Best: C=1.0, squared_hinge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197501" y="2530822"/>
            <a:ext cx="2755850" cy="1539032"/>
          </a:xfrm>
          <a:prstGeom prst="roundRect">
            <a:avLst>
              <a:gd fmla="val 4951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349901" y="2683222"/>
            <a:ext cx="250007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MULTINOMIAL NB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349901" y="2919413"/>
            <a:ext cx="25000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Alpha (Smoothing)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349901" y="3071813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" sz="850">
                <a:solidFill>
                  <a:srgbClr val="F0F4F8"/>
                </a:solidFill>
              </a:rPr>
              <a:t>0.01, 0.1, 0.5, 1.0</a:t>
            </a: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6349901" y="3275558"/>
            <a:ext cx="25000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Fit Prior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349901" y="3427958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[True, False]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349901" y="3669804"/>
            <a:ext cx="2451050" cy="247650"/>
          </a:xfrm>
          <a:prstGeom prst="roundRect">
            <a:avLst>
              <a:gd fmla="val 1538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426101" y="3726954"/>
            <a:ext cx="234462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Best: alpha=0</a:t>
            </a:r>
            <a:r>
              <a:rPr b="0" i="0" lang="en" sz="7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750">
                <a:solidFill>
                  <a:srgbClr val="4ECDC4"/>
                </a:solidFill>
              </a:rPr>
              <a:t>5</a:t>
            </a:r>
            <a:r>
              <a:rPr b="0" i="0" lang="en" sz="75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, fit_prior=True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f1cd0c76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/>
          <p:nvPr/>
        </p:nvSpPr>
        <p:spPr>
          <a:xfrm>
            <a:off x="381000" y="238125"/>
            <a:ext cx="4478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Before vs After Tuning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707481" y="2654647"/>
            <a:ext cx="7333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project/before_after_tuning_comparison.png" id="241" name="Google Shape;2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" y="647700"/>
            <a:ext cx="8700375" cy="2724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3"/>
          <p:cNvGrpSpPr/>
          <p:nvPr/>
        </p:nvGrpSpPr>
        <p:grpSpPr>
          <a:xfrm>
            <a:off x="380850" y="3514725"/>
            <a:ext cx="8183584" cy="1556400"/>
            <a:chOff x="5905500" y="1969750"/>
            <a:chExt cx="1616702" cy="1556400"/>
          </a:xfrm>
        </p:grpSpPr>
        <p:sp>
          <p:nvSpPr>
            <p:cNvPr id="243" name="Google Shape;243;p23"/>
            <p:cNvSpPr/>
            <p:nvPr/>
          </p:nvSpPr>
          <p:spPr>
            <a:xfrm>
              <a:off x="5905500" y="1969750"/>
              <a:ext cx="1616700" cy="1556400"/>
            </a:xfrm>
            <a:prstGeom prst="roundRect">
              <a:avLst>
                <a:gd fmla="val 4896" name="adj"/>
              </a:avLst>
            </a:prstGeom>
            <a:solidFill>
              <a:srgbClr val="162D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6038850" y="2103100"/>
              <a:ext cx="981000" cy="1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CDC4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4ECDC4"/>
                  </a:solidFill>
                  <a:latin typeface="Arial"/>
                  <a:ea typeface="Arial"/>
                  <a:cs typeface="Arial"/>
                  <a:sym typeface="Arial"/>
                </a:rPr>
                <a:t>KEY POINTS</a:t>
              </a:r>
              <a:endParaRPr b="0" i="0" sz="8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6038850" y="2392561"/>
              <a:ext cx="38100" cy="38100"/>
            </a:xfrm>
            <a:prstGeom prst="roundRect">
              <a:avLst>
                <a:gd fmla="val 240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6134100" y="2344936"/>
              <a:ext cx="1382637" cy="133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4F8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0F4F8"/>
                  </a:solidFill>
                  <a:latin typeface="Arial"/>
                  <a:ea typeface="Arial"/>
                  <a:cs typeface="Arial"/>
                  <a:sym typeface="Arial"/>
                </a:rPr>
                <a:t>LR improved: F1 0.931 → 0.936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6038850" y="2621161"/>
              <a:ext cx="38100" cy="38100"/>
            </a:xfrm>
            <a:prstGeom prst="roundRect">
              <a:avLst>
                <a:gd fmla="val 240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6134100" y="2573536"/>
              <a:ext cx="1377172" cy="133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4F8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0F4F8"/>
                  </a:solidFill>
                  <a:latin typeface="Arial"/>
                  <a:ea typeface="Arial"/>
                  <a:cs typeface="Arial"/>
                  <a:sym typeface="Arial"/>
                </a:rPr>
                <a:t>SVM slight drop: 0.939 → 0.936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6038850" y="2849761"/>
              <a:ext cx="38100" cy="38100"/>
            </a:xfrm>
            <a:prstGeom prst="roundRect">
              <a:avLst>
                <a:gd fmla="val 240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6134100" y="2802136"/>
              <a:ext cx="1388102" cy="133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4F8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0F4F8"/>
                  </a:solidFill>
                  <a:latin typeface="Arial"/>
                  <a:ea typeface="Arial"/>
                  <a:cs typeface="Arial"/>
                  <a:sym typeface="Arial"/>
                </a:rPr>
                <a:t>MNB decreased: 0.931 → 0.930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6038850" y="3078361"/>
              <a:ext cx="38100" cy="38100"/>
            </a:xfrm>
            <a:prstGeom prst="roundRect">
              <a:avLst>
                <a:gd fmla="val 240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6134100" y="3030736"/>
              <a:ext cx="1218536" cy="133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4F8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0F4F8"/>
                  </a:solidFill>
                  <a:latin typeface="Arial"/>
                  <a:ea typeface="Arial"/>
                  <a:cs typeface="Arial"/>
                  <a:sym typeface="Arial"/>
                </a:rPr>
                <a:t>Precision vs recall trade-offs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6038850" y="3306961"/>
              <a:ext cx="38100" cy="38100"/>
            </a:xfrm>
            <a:prstGeom prst="roundRect">
              <a:avLst>
                <a:gd fmla="val 2400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6134100" y="3259336"/>
              <a:ext cx="12366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4F8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0F4F8"/>
                  </a:solidFill>
                  <a:latin typeface="Arial"/>
                  <a:ea typeface="Arial"/>
                  <a:cs typeface="Arial"/>
                  <a:sym typeface="Arial"/>
                </a:rPr>
                <a:t>Default SVM still best overall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acf9ad45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/>
          <p:nvPr/>
        </p:nvSpPr>
        <p:spPr>
          <a:xfrm>
            <a:off x="381000" y="238125"/>
            <a:ext cx="4478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Confusion Matrix 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2707481" y="2654647"/>
            <a:ext cx="7333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7441406" y="1969750"/>
            <a:ext cx="1636200" cy="1556400"/>
          </a:xfrm>
          <a:prstGeom prst="roundRect">
            <a:avLst>
              <a:gd fmla="val 4896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7574756" y="2103100"/>
            <a:ext cx="926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7574756" y="23925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7670006" y="2344936"/>
            <a:ext cx="1335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LR TP improved: 3249 → 3282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7574756" y="26211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7670006" y="2573536"/>
            <a:ext cx="11883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LR FN reduced: 197 → 193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7574756" y="28497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7670006" y="2802136"/>
            <a:ext cx="1321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SVM stable: slight FP increase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7574756" y="30783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7670006" y="3030736"/>
            <a:ext cx="1407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MNB: More FP after tuning (264)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7574756" y="33069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7670006" y="3259336"/>
            <a:ext cx="13845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Tuning balances precision/recall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project/confusion_matrix_before_after_comparison.png" id="275" name="Google Shape;2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733425"/>
            <a:ext cx="698659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224d20fd.png" id="281" name="Google Shape;2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/>
          <p:nvPr/>
        </p:nvSpPr>
        <p:spPr>
          <a:xfrm>
            <a:off x="381000" y="238125"/>
            <a:ext cx="4478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Final Model Rankings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2789039" y="2654647"/>
            <a:ext cx="5671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Rankings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7429500" y="1969750"/>
            <a:ext cx="1569300" cy="1556400"/>
          </a:xfrm>
          <a:prstGeom prst="roundRect">
            <a:avLst>
              <a:gd fmla="val 4896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515225" y="2103100"/>
            <a:ext cx="1569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7515225" y="23925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7610475" y="2344936"/>
            <a:ext cx="1258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Winner: Linear SVM (0.9389)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7515225" y="26211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7610475" y="2573536"/>
            <a:ext cx="10263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2nd: Tuned LR (0.9362)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7515225" y="28497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7610475" y="2802136"/>
            <a:ext cx="1091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3rd: Tuned SVM (0.9358)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7515225" y="30783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7610475" y="3030736"/>
            <a:ext cx="1382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Default params beat tuned SVM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7515225" y="3306961"/>
            <a:ext cx="38100" cy="38100"/>
          </a:xfrm>
          <a:prstGeom prst="roundRect">
            <a:avLst>
              <a:gd fmla="val 240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7610475" y="3259336"/>
            <a:ext cx="775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RF lowest: 0.9115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project/all_models_ranking.png" id="296" name="Google Shape;2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944175"/>
            <a:ext cx="6950875" cy="360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ea7936c4.png" id="302" name="Google Shape;3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/>
          <p:nvPr/>
        </p:nvSpPr>
        <p:spPr>
          <a:xfrm>
            <a:off x="381000" y="285750"/>
            <a:ext cx="44788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Test Set Predictions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381000" y="1336477"/>
            <a:ext cx="4171950" cy="1683990"/>
          </a:xfrm>
          <a:prstGeom prst="roundRect">
            <a:avLst>
              <a:gd fmla="val 4525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71500" y="1526977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PREDICTION DISTRIBUTION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571500" y="1861245"/>
            <a:ext cx="97397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Real News (Class 0)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910700" y="1801275"/>
            <a:ext cx="46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4ECDC4"/>
                </a:solidFill>
              </a:rPr>
              <a:t>3.3k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71500" y="2182267"/>
            <a:ext cx="3790950" cy="76200"/>
          </a:xfrm>
          <a:prstGeom prst="roundRect">
            <a:avLst>
              <a:gd fmla="val 5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71500" y="2182267"/>
            <a:ext cx="1793081" cy="76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71500" y="2432745"/>
            <a:ext cx="9917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Fake News (Class 1)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3910475" y="2372775"/>
            <a:ext cx="46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6B6B"/>
                </a:solidFill>
              </a:rPr>
              <a:t>3.1k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571500" y="2753767"/>
            <a:ext cx="3790950" cy="76200"/>
          </a:xfrm>
          <a:prstGeom prst="roundRect">
            <a:avLst>
              <a:gd fmla="val 5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571500" y="2753767"/>
            <a:ext cx="1997720" cy="76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381000" y="3172867"/>
            <a:ext cx="4171950" cy="1281857"/>
          </a:xfrm>
          <a:prstGeom prst="roundRect">
            <a:avLst>
              <a:gd fmla="val 5945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571500" y="3363367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TOTAL PREDICTIONS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571500" y="3599557"/>
            <a:ext cx="3866769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F0F4F8"/>
                </a:solidFill>
              </a:rPr>
              <a:t>6,831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571500" y="4117628"/>
            <a:ext cx="38667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samples classified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4781550" y="1450777"/>
            <a:ext cx="4171950" cy="1106686"/>
          </a:xfrm>
          <a:prstGeom prst="roundRect">
            <a:avLst>
              <a:gd fmla="val 6885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972050" y="1641277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SELECTED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4972050" y="1877467"/>
            <a:ext cx="386676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Linear SVM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4972050" y="2220367"/>
            <a:ext cx="38667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Retrained on full </a:t>
            </a:r>
            <a:r>
              <a:rPr lang="en" sz="825">
                <a:solidFill>
                  <a:srgbClr val="FFFFFF"/>
                </a:solidFill>
              </a:rPr>
              <a:t>27,321 </a:t>
            </a:r>
            <a:r>
              <a:rPr b="0" i="0" lang="en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samples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4781550" y="2709863"/>
            <a:ext cx="4171950" cy="1630412"/>
          </a:xfrm>
          <a:prstGeom prst="roundRect">
            <a:avLst>
              <a:gd fmla="val 4674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4972050" y="2900363"/>
            <a:ext cx="3866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4972050" y="3174653"/>
            <a:ext cx="43962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8310711" y="3174653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94.04%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4972050" y="3437483"/>
            <a:ext cx="43962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8310711" y="3437483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93.89%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4972050" y="3700314"/>
            <a:ext cx="43962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8310711" y="3700314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93.43%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4972050" y="3963144"/>
            <a:ext cx="29708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8310711" y="3963144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94.36%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381000" y="4781550"/>
            <a:ext cx="196587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Output saved to: testing_data_predictions.csv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44a98e6f.png" id="338" name="Google Shape;3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/>
          <p:nvPr/>
        </p:nvSpPr>
        <p:spPr>
          <a:xfrm>
            <a:off x="381000" y="238125"/>
            <a:ext cx="4478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Deep Learning: BERT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381000" y="1543199"/>
            <a:ext cx="4095750" cy="872282"/>
          </a:xfrm>
          <a:prstGeom prst="roundRect">
            <a:avLst>
              <a:gd fmla="val 8736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7"/>
          <p:cNvCxnSpPr/>
          <p:nvPr/>
        </p:nvCxnSpPr>
        <p:spPr>
          <a:xfrm>
            <a:off x="400050" y="1543199"/>
            <a:ext cx="0" cy="872282"/>
          </a:xfrm>
          <a:prstGeom prst="straightConnector1">
            <a:avLst/>
          </a:prstGeom>
          <a:noFill/>
          <a:ln cap="flat" cmpd="sng" w="381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27"/>
          <p:cNvSpPr/>
          <p:nvPr/>
        </p:nvSpPr>
        <p:spPr>
          <a:xfrm>
            <a:off x="571500" y="1695599"/>
            <a:ext cx="382790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MODEL USED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571500" y="1918395"/>
            <a:ext cx="38279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Fake-News-Bert-Detect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571500" y="2129730"/>
            <a:ext cx="3827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Pre-trained BERT for fake news detection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381000" y="2529780"/>
            <a:ext cx="4095750" cy="1422946"/>
          </a:xfrm>
          <a:prstGeom prst="roundRect">
            <a:avLst>
              <a:gd fmla="val 5355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533400" y="2682180"/>
            <a:ext cx="38667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FINE-TUNING SETUP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533400" y="2904976"/>
            <a:ext cx="6104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4133701" y="2904976"/>
            <a:ext cx="1944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2e-5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533400" y="3095476"/>
            <a:ext cx="46452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Batch Size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4218384" y="3095476"/>
            <a:ext cx="10808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533400" y="3285976"/>
            <a:ext cx="32410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4271367" y="3285976"/>
            <a:ext cx="540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533400" y="3476476"/>
            <a:ext cx="50778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Max Length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3858220" y="3476476"/>
            <a:ext cx="47545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512 tokens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533400" y="3666976"/>
            <a:ext cx="42125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3664297" y="3666976"/>
            <a:ext cx="6732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RTX 3060 GPU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4570850" y="1272249"/>
            <a:ext cx="4210200" cy="1268100"/>
          </a:xfrm>
          <a:prstGeom prst="roundRect">
            <a:avLst>
              <a:gd fmla="val 7031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27"/>
          <p:cNvCxnSpPr/>
          <p:nvPr/>
        </p:nvCxnSpPr>
        <p:spPr>
          <a:xfrm>
            <a:off x="4686300" y="1367959"/>
            <a:ext cx="0" cy="1083900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27"/>
          <p:cNvSpPr/>
          <p:nvPr/>
        </p:nvSpPr>
        <p:spPr>
          <a:xfrm>
            <a:off x="4763150" y="1366359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BEFORE FINE-TUNING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4857750" y="1829842"/>
            <a:ext cx="39955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8222903" y="1829842"/>
            <a:ext cx="39545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63.86%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4857750" y="2027932"/>
            <a:ext cx="399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8222903" y="2027932"/>
            <a:ext cx="39545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44.25%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4857750" y="2226022"/>
            <a:ext cx="27006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8222903" y="2226022"/>
            <a:ext cx="39545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28.55%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4705075" y="2734900"/>
            <a:ext cx="4095900" cy="1268100"/>
          </a:xfrm>
          <a:prstGeom prst="roundRect">
            <a:avLst>
              <a:gd fmla="val 5488" name="adj"/>
            </a:avLst>
          </a:prstGeom>
          <a:solidFill>
            <a:srgbClr val="4ECD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4819650" y="2805113"/>
            <a:ext cx="38667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AFTER FINE-TUNING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4819650" y="3027908"/>
            <a:ext cx="3995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8158311" y="3027908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98.62%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4819650" y="3252639"/>
            <a:ext cx="3995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8158311" y="3252639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98.63%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4819650" y="3477369"/>
            <a:ext cx="39970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8158311" y="3477369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98.34%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4819650" y="3702100"/>
            <a:ext cx="2700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8158311" y="3702100"/>
            <a:ext cx="46133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98.92%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ill&#10;" id="376" name="Google Shape;376;p27"/>
          <p:cNvSpPr/>
          <p:nvPr/>
        </p:nvSpPr>
        <p:spPr>
          <a:xfrm>
            <a:off x="4819650" y="2374500"/>
            <a:ext cx="960900" cy="186600"/>
          </a:xfrm>
          <a:prstGeom prst="rect">
            <a:avLst/>
          </a:prstGeom>
          <a:solidFill>
            <a:srgbClr val="162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4857725" y="1631842"/>
            <a:ext cx="399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" sz="750">
                <a:solidFill>
                  <a:srgbClr val="94A3B8"/>
                </a:solidFill>
              </a:rPr>
              <a:t>Precision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7"/>
          <p:cNvSpPr/>
          <p:nvPr/>
        </p:nvSpPr>
        <p:spPr>
          <a:xfrm flipH="1">
            <a:off x="8163525" y="1604750"/>
            <a:ext cx="6072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" sz="900">
                <a:solidFill>
                  <a:srgbClr val="F0F4F8"/>
                </a:solidFill>
              </a:rPr>
              <a:t>93.86</a:t>
            </a:r>
            <a:r>
              <a:rPr b="0" i="0" lang="en" sz="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5fe62bd7.png" id="384" name="Google Shape;3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8"/>
          <p:cNvSpPr/>
          <p:nvPr/>
        </p:nvSpPr>
        <p:spPr>
          <a:xfrm>
            <a:off x="381000" y="238125"/>
            <a:ext cx="44788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BERT vs Traditional ML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381000" y="733425"/>
            <a:ext cx="5513400" cy="3295800"/>
          </a:xfrm>
          <a:prstGeom prst="roundRect">
            <a:avLst>
              <a:gd fmla="val 2312" name="adj"/>
            </a:avLst>
          </a:prstGeom>
          <a:solidFill>
            <a:srgbClr val="162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609600" y="962025"/>
            <a:ext cx="388620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1841434" y="962025"/>
            <a:ext cx="1865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LINEAR SVM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3898834" y="962025"/>
            <a:ext cx="1865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BERT (Fine-tuned)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533400" y="1261025"/>
            <a:ext cx="12120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609600" y="1337225"/>
            <a:ext cx="11358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1783522" y="1261021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1841434" y="1337221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93.89%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3840922" y="1261021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3898834" y="1337221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98.63%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533400" y="1662860"/>
            <a:ext cx="12120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609600" y="1739060"/>
            <a:ext cx="11358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1783522" y="1662857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1841434" y="1739057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94.04%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3840922" y="1662857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3898834" y="1739057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98.62%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533400" y="2064698"/>
            <a:ext cx="12120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609600" y="2140895"/>
            <a:ext cx="11358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Training Time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1783522" y="2064693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4ECD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1841434" y="2140893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~1 min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3840922" y="2064693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/>
          <p:nvPr/>
        </p:nvSpPr>
        <p:spPr>
          <a:xfrm>
            <a:off x="3898834" y="2140893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~58 min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533400" y="2466537"/>
            <a:ext cx="12120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609600" y="2542729"/>
            <a:ext cx="11358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Hardware Req.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1783522" y="2466529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4ECD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1841434" y="2542729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3840922" y="2466529"/>
            <a:ext cx="1981200" cy="325500"/>
          </a:xfrm>
          <a:prstGeom prst="roundRect">
            <a:avLst>
              <a:gd fmla="val 117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3898834" y="2542729"/>
            <a:ext cx="186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381000" y="4181475"/>
            <a:ext cx="8382000" cy="581025"/>
          </a:xfrm>
          <a:prstGeom prst="roundRect">
            <a:avLst>
              <a:gd fmla="val 13115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533400" y="4314825"/>
            <a:ext cx="82387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b="0" i="0" lang="en" sz="825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 BERT achieves 4.7% higher F1-score but requires GPU and 58x longer training. For production with limited resources, Linear SVM offers excellent accuracy with minimal compute.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325" y="817925"/>
            <a:ext cx="3178500" cy="30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46170be7.png" id="422" name="Google Shape;4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9"/>
          <p:cNvSpPr/>
          <p:nvPr/>
        </p:nvSpPr>
        <p:spPr>
          <a:xfrm>
            <a:off x="381000" y="285750"/>
            <a:ext cx="4552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Conclusio</a:t>
            </a:r>
            <a:r>
              <a:rPr b="1" lang="en" sz="2400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433075" y="1059600"/>
            <a:ext cx="7636200" cy="2479500"/>
          </a:xfrm>
          <a:prstGeom prst="roundRect">
            <a:avLst>
              <a:gd fmla="val 5542" name="adj"/>
            </a:avLst>
          </a:prstGeom>
          <a:solidFill>
            <a:srgbClr val="162D4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BERT achieved 98.63% F1-score but requires GPU and 58-minute training time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Linear SVM delivered 93.89% F1-score with CPU-only inference and fast training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Trade-off identified: 4.7% accuracy gain vs 58x longer training and GPU dependency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Both models production-ready - choice depends on accuracy needs and available resources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587274" y="1337068"/>
            <a:ext cx="5338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ECDC4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9"/>
          <p:cNvSpPr/>
          <p:nvPr/>
        </p:nvSpPr>
        <p:spPr>
          <a:xfrm>
            <a:off x="767777" y="2729729"/>
            <a:ext cx="35619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t/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2d696799.png" id="432" name="Google Shape;4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67300"/>
            <a:ext cx="9144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0"/>
          <p:cNvSpPr/>
          <p:nvPr/>
        </p:nvSpPr>
        <p:spPr>
          <a:xfrm>
            <a:off x="3061700" y="1178445"/>
            <a:ext cx="3020700" cy="12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0"/>
          <p:cNvSpPr/>
          <p:nvPr/>
        </p:nvSpPr>
        <p:spPr>
          <a:xfrm>
            <a:off x="4000500" y="2614613"/>
            <a:ext cx="1143000" cy="2857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3545954" y="2909888"/>
            <a:ext cx="20519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297180" y="4724400"/>
            <a:ext cx="85496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Fake News Classification • ML Project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0f2e146b.png" id="442" name="Google Shape;4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/>
          <p:nvPr/>
        </p:nvSpPr>
        <p:spPr>
          <a:xfrm>
            <a:off x="381000" y="285750"/>
            <a:ext cx="54546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Challenges &amp; Business Insights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661150" y="1468550"/>
            <a:ext cx="7636200" cy="2479500"/>
          </a:xfrm>
          <a:prstGeom prst="roundRect">
            <a:avLst>
              <a:gd fmla="val 5542" name="adj"/>
            </a:avLst>
          </a:prstGeom>
          <a:solidFill>
            <a:srgbClr val="162D4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GPU requirement: BERT fine-tuning needed RTX 3060 with limited batch size (16)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Pre-trained BERT baseline was poor (44.25% F1), requiring full fine-tuning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Hyperparameter tuning: Traditional ML showed minimal gains; default Linear SVM outperformed tuned version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Deployment trade-off: SVM enables rapid CPU deployment; BERT justifies cost only for high-stakes applications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